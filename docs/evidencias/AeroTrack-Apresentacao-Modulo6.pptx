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828800" y="-1828800"/>
            <a:ext cx="6400800" cy="6400800"/>
          </a:xfrm>
          <a:prstGeom prst="roundRect">
            <a:avLst>
              <a:gd name="adj" fmla="val 50000"/>
            </a:avLst>
          </a:prstGeom>
          <a:solidFill>
            <a:srgbClr val="16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601200" y="4114800"/>
            <a:ext cx="5486400" cy="5486400"/>
          </a:xfrm>
          <a:prstGeom prst="roundRect">
            <a:avLst>
              <a:gd name="adj" fmla="val 50000"/>
            </a:avLst>
          </a:prstGeom>
          <a:solidFill>
            <a:srgbClr val="16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989320"/>
            <a:ext cx="12191695" cy="54864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erotrack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1965960"/>
            <a:ext cx="411480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0" y="324612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0">
                <a:solidFill>
                  <a:srgbClr val="CFE3F7"/>
                </a:solidFill>
                <a:latin typeface="Arial"/>
              </a:rPr>
              <a:t>Air Quality Monitoring with Apache 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94760"/>
            <a:ext cx="12191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BAF7A"/>
                </a:solidFill>
                <a:latin typeface="Arial"/>
              </a:rPr>
              <a:t>Module 6 Final Project | Apache 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4709160"/>
            <a:ext cx="121916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FFFFFF"/>
                </a:solidFill>
                <a:latin typeface="Arial"/>
              </a:rPr>
              <a:t>Allef Oliveira Ramos   ·   Fernanda de Oliveira da Costa   ·   Juliana Ballin Lima   ·   Pedro Henrique Oliveira Dias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6172200"/>
            <a:ext cx="121916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898781"/>
                </a:solidFill>
                <a:latin typeface="Arial"/>
              </a:rPr>
              <a:t>AI and Digital Transformation Program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con_lu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914400"/>
            <a:ext cx="1371600" cy="1371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468880" y="914400"/>
            <a:ext cx="90525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You cannot see the air</a:t>
            </a:r>
          </a:p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you breathe.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87168" y="2514600"/>
            <a:ext cx="88696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CFE3F7"/>
                </a:solidFill>
                <a:latin typeface="Arial"/>
              </a:rPr>
              <a:t>Air pollution is one of the world's largest environmental health risks.</a:t>
            </a:r>
          </a:p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CFE3F7"/>
                </a:solidFill>
                <a:latin typeface="Arial"/>
              </a:rPr>
              <a:t>CO and NO2 levels can spike for hours without anyone noticing,</a:t>
            </a:r>
          </a:p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CFE3F7"/>
                </a:solidFill>
                <a:latin typeface="Arial"/>
              </a:rPr>
              <a:t>until the exposure has already happened.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663440"/>
            <a:ext cx="10515600" cy="1463040"/>
          </a:xfrm>
          <a:prstGeom prst="roundRect">
            <a:avLst>
              <a:gd name="adj" fmla="val 12000"/>
            </a:avLst>
          </a:prstGeom>
          <a:solidFill>
            <a:srgbClr val="162E4A"/>
          </a:solidFill>
          <a:ln>
            <a:noFill/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4892040"/>
            <a:ext cx="9875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 i="1">
                <a:solidFill>
                  <a:srgbClr val="E8A300"/>
                </a:solidFill>
                <a:latin typeface="Arial"/>
              </a:rPr>
              <a:t>The real question is not “is the air polluted”. It is: exactly WHEN was it</a:t>
            </a:r>
          </a:p>
          <a:p>
            <a:pPr algn="l">
              <a:lnSpc>
                <a:spcPct val="130000"/>
              </a:lnSpc>
            </a:pPr>
            <a:r>
              <a:rPr sz="1700" b="0" i="1">
                <a:solidFill>
                  <a:srgbClr val="E8A300"/>
                </a:solidFill>
                <a:latin typeface="Arial"/>
              </a:rPr>
              <a:t>worst, and what conditions made it worse?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Module 6 | Apache 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FFFFFF"/>
                </a:solidFill>
                <a:latin typeface="Arial"/>
              </a:rPr>
              <a:t>Without treated data, that question has no answer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234440"/>
            <a:ext cx="1188720" cy="50800"/>
          </a:xfrm>
          <a:prstGeom prst="roundRect">
            <a:avLst>
              <a:gd name="adj" fmla="val 50000"/>
            </a:avLst>
          </a:prstGeom>
          <a:solidFill>
            <a:srgbClr val="E8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828800"/>
            <a:ext cx="3383280" cy="329184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162E4A"/>
              </a:gs>
              <a:gs pos="100000">
                <a:srgbClr val="1C3252"/>
              </a:gs>
            </a:gsLst>
            <a:lin scaled="0" ang="18900000"/>
          </a:gradFill>
          <a:ln>
            <a:noFill/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con_war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120" y="2084832"/>
            <a:ext cx="822960" cy="822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0120" y="306324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Raw sensor noise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520440"/>
            <a:ext cx="30175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Missing readings, a -200 sentinel value and empty export rows hide the real signal.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828800"/>
            <a:ext cx="3383280" cy="329184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162E4A"/>
              </a:gs>
              <a:gs pos="100000">
                <a:srgbClr val="1C3252"/>
              </a:gs>
            </a:gsLst>
            <a:lin scaled="0" ang="18900000"/>
          </a:gradFill>
          <a:ln>
            <a:noFill/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_ques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2084832"/>
            <a:ext cx="822960" cy="8229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0" y="306324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No structure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3520440"/>
            <a:ext cx="30175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Nothing tells you which hours, days or months were actually critical.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828800"/>
            <a:ext cx="3383280" cy="329184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162E4A"/>
              </a:gs>
              <a:gs pos="100000">
                <a:srgbClr val="1C3252"/>
              </a:gs>
            </a:gsLst>
            <a:lin scaled="0" ang="18900000"/>
          </a:gradFill>
          <a:ln>
            <a:noFill/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con_war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2084832"/>
            <a:ext cx="822960" cy="8229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183880" y="306324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No memory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3520440"/>
            <a:ext cx="30175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Without a database, every analysis starts from zero, every single time.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53212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1">
                <a:solidFill>
                  <a:srgbClr val="28C48C"/>
                </a:solidFill>
                <a:latin typeface="Arial"/>
              </a:rPr>
              <a:t>AeroTrack was built to close exactly this gap.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Module 6 | Apache Hop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828800" y="-1828800"/>
            <a:ext cx="6400800" cy="6400800"/>
          </a:xfrm>
          <a:prstGeom prst="roundRect">
            <a:avLst>
              <a:gd name="adj" fmla="val 50000"/>
            </a:avLst>
          </a:prstGeom>
          <a:solidFill>
            <a:srgbClr val="16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601200" y="4114800"/>
            <a:ext cx="5486400" cy="5486400"/>
          </a:xfrm>
          <a:prstGeom prst="roundRect">
            <a:avLst>
              <a:gd name="adj" fmla="val 50000"/>
            </a:avLst>
          </a:prstGeom>
          <a:solidFill>
            <a:srgbClr val="16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erotrack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2286000"/>
            <a:ext cx="3740727" cy="91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0" y="352044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0">
                <a:solidFill>
                  <a:srgbClr val="CFE3F7"/>
                </a:solidFill>
                <a:latin typeface="Arial"/>
              </a:rPr>
              <a:t>From raw sensor data to a clear, trustworthy answer.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20624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E8A300"/>
                </a:solidFill>
                <a:latin typeface="Arial"/>
              </a:rPr>
              <a:t>Built end to end with Apache 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Module 6 | Apache 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BAF7A"/>
                </a:solidFill>
                <a:latin typeface="Arial"/>
              </a:rPr>
              <a:t>THE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0B1F33"/>
                </a:solidFill>
                <a:latin typeface="Arial"/>
              </a:rPr>
              <a:t>Dataset and problem statement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61872"/>
            <a:ext cx="1188720" cy="508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erotrack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74320"/>
            <a:ext cx="502920" cy="502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1691640"/>
            <a:ext cx="67665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800">
                <a:solidFill>
                  <a:srgbClr val="26364A"/>
                </a:solidFill>
                <a:latin typeface="Arial"/>
              </a:rPr>
              <a:t>•  Dataset: Air Quality, UCI Machine Learning Repository</a:t>
            </a:r>
          </a:p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800">
                <a:solidFill>
                  <a:srgbClr val="26364A"/>
                </a:solidFill>
                <a:latin typeface="Arial"/>
              </a:rPr>
              <a:t>•  Source: a monitoring station in an Italian city (De Vito et al.)</a:t>
            </a:r>
          </a:p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800">
                <a:solidFill>
                  <a:srgbClr val="26364A"/>
                </a:solidFill>
                <a:latin typeface="Arial"/>
              </a:rPr>
              <a:t>•  Period: March 2004 to February 2005</a:t>
            </a:r>
          </a:p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800">
                <a:solidFill>
                  <a:srgbClr val="26364A"/>
                </a:solidFill>
                <a:latin typeface="Arial"/>
              </a:rPr>
              <a:t>•  Volume: 9357 hourly readings, 15 variables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1737360"/>
            <a:ext cx="3520440" cy="3291840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2A78D6"/>
              </a:gs>
              <a:gs pos="100000">
                <a:srgbClr val="1BAF7A"/>
              </a:gs>
            </a:gsLst>
            <a:lin scaled="0" ang="18900000"/>
          </a:gradFill>
          <a:ln>
            <a:noFill/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96596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2377440"/>
            <a:ext cx="306324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FFFFFF"/>
                </a:solidFill>
                <a:latin typeface="Arial"/>
              </a:rPr>
              <a:t>In which periods were the worst air quality conditions recorded, and which environmental variables were associated with them?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Module 6 | Apache Hop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BAF7A"/>
                </a:solidFill>
                <a:latin typeface="Arial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0B1F33"/>
                </a:solidFill>
                <a:latin typeface="Arial"/>
              </a:rPr>
              <a:t>End-to-end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61872"/>
            <a:ext cx="1188720" cy="508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erotrack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74320"/>
            <a:ext cx="502920" cy="502920"/>
          </a:xfrm>
          <a:prstGeom prst="rect">
            <a:avLst/>
          </a:prstGeom>
        </p:spPr>
      </p:pic>
      <p:pic>
        <p:nvPicPr>
          <p:cNvPr id="7" name="Picture 6" descr="aerotrack-flow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103120"/>
            <a:ext cx="11247120" cy="196824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484632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26364A"/>
                </a:solidFill>
                <a:latin typeface="Arial"/>
              </a:rPr>
              <a:t>Two Apache Hop pipelines, orchestrated by a workflow: pl_01_ingestion_treatment and</a:t>
            </a:r>
          </a:p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26364A"/>
                </a:solidFill>
                <a:latin typeface="Arial"/>
              </a:rPr>
              <a:t>pl_02_indicator_consolidation, feeding a PostgreSQL database and a live dashboard.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Module 6 | Apache Hop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BAF7A"/>
                </a:solidFill>
                <a:latin typeface="Arial"/>
              </a:rPr>
              <a:t>APACHE HOP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0B1F33"/>
                </a:solidFill>
                <a:latin typeface="Arial"/>
              </a:rPr>
              <a:t>Ingestion and treatment pipeline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61872"/>
            <a:ext cx="1188720" cy="508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erotrack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74320"/>
            <a:ext cx="502920" cy="502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CSV Input reads the raw dataset (semicolon separator, comma decimal)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Filter Rows removes the empty rows left by the dataset export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Formula builds a single date-time text; Null If handles the -200 missing-value sentinel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Select Values renames fields and converts text into a proper Date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Calculator, Value Mapper and Number Range derive year, month, time of day and CO/NO2 level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Janino flags whether a reading is valid; Filter Rows splits valid from rejected readings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Insert/Update loads PostgreSQL keyed on data_hora, safe to rerun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Module 6 | Apache Hop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BAF7A"/>
                </a:solidFill>
                <a:latin typeface="Arial"/>
              </a:rPr>
              <a:t>APACHE HOP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0B1F33"/>
                </a:solidFill>
                <a:latin typeface="Arial"/>
              </a:rPr>
              <a:t>Consolidation pipeline and orchestration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61872"/>
            <a:ext cx="1188720" cy="508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erotrack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74320"/>
            <a:ext cx="502920" cy="502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16916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BAF7A"/>
                </a:solidFill>
                <a:latin typeface="Arial"/>
              </a:rPr>
              <a:t>pl_02_indicator_consolidation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106070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Table Input aggregates treated readings by day and by month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Insert/Update writes resumo_diario_qualidade_ar and resumo_mensal_qualidade_ar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7033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BAF7A"/>
                </a:solidFill>
                <a:latin typeface="Arial"/>
              </a:rPr>
              <a:t>wf_air_quality_orchestration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160520"/>
            <a:ext cx="10424160" cy="914400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0B1F33"/>
              </a:gs>
              <a:gs pos="100000">
                <a:srgbClr val="162E4A"/>
              </a:gs>
            </a:gsLst>
            <a:lin scaled="0" ang="18900000"/>
          </a:gradFill>
          <a:ln>
            <a:noFill/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onsolas"/>
              </a:rPr>
              <a:t>START  →  Ingestion and treatment  →  Indicator consolidation  →  Process completed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349240"/>
            <a:ext cx="10424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26364A"/>
                </a:solidFill>
                <a:latin typeface="Arial"/>
              </a:rPr>
              <a:t>The second hop only runs if ingestion succeeds, preventing indicators from ever being built on an incomplete load.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Module 6 | Apache Hop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BAF7A"/>
                </a:solidFill>
                <a:latin typeface="Arial"/>
              </a:rPr>
              <a:t>DATA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0B1F33"/>
                </a:solidFill>
                <a:latin typeface="Arial"/>
              </a:rPr>
              <a:t>Treatments applied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61872"/>
            <a:ext cx="1188720" cy="508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erotrack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74320"/>
            <a:ext cx="502920" cy="502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173736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800">
                <a:solidFill>
                  <a:srgbClr val="26364A"/>
                </a:solidFill>
                <a:latin typeface="Arial"/>
              </a:rPr>
              <a:t>•  -200 sentinel: converted to null before any calculation (Null If)</a:t>
            </a:r>
          </a:p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800">
                <a:solidFill>
                  <a:srgbClr val="26364A"/>
                </a:solidFill>
                <a:latin typeface="Arial"/>
              </a:rPr>
              <a:t>•  114 empty export rows: dropped during ingestion (Filter Rows)</a:t>
            </a:r>
          </a:p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800">
                <a:solidFill>
                  <a:srgbClr val="26364A"/>
                </a:solidFill>
                <a:latin typeface="Arial"/>
              </a:rPr>
              <a:t>•  Readings with no reference pollutant (CO, NOx and NO2): separated into leituras_rejeitadas</a:t>
            </a:r>
          </a:p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800">
                <a:solidFill>
                  <a:srgbClr val="26364A"/>
                </a:solidFill>
                <a:latin typeface="Arial"/>
              </a:rPr>
              <a:t>•  CO and NO2 analytical classification (GOOD, MODERATE, CRITICAL): calibrated from the dataset's own percentiles, with no external regulatory reference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Module 6 | Apache Hop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BAF7A"/>
                </a:solidFill>
                <a:latin typeface="Arial"/>
              </a:rPr>
              <a:t>PERSISTENCE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0B1F33"/>
                </a:solidFill>
                <a:latin typeface="Arial"/>
              </a:rPr>
              <a:t>Database and rerun safety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61872"/>
            <a:ext cx="1188720" cy="508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erotrack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74320"/>
            <a:ext cx="502920" cy="502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1737360"/>
            <a:ext cx="3931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A78D6"/>
                </a:solidFill>
                <a:latin typeface="Consolas"/>
              </a:rPr>
              <a:t>leituras_qualidade_ar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1737360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364A"/>
                </a:solidFill>
                <a:latin typeface="Arial"/>
              </a:rPr>
              <a:t>Treated, detailed data, one row per valid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3931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A78D6"/>
                </a:solidFill>
                <a:latin typeface="Consolas"/>
              </a:rPr>
              <a:t>leituras_rejeitadas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2286000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364A"/>
                </a:solidFill>
                <a:latin typeface="Arial"/>
              </a:rPr>
              <a:t>Readings with no reference pollutant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834640"/>
            <a:ext cx="3931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A78D6"/>
                </a:solidFill>
                <a:latin typeface="Consolas"/>
              </a:rPr>
              <a:t>resumo_diario_qualidade_ar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834640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364A"/>
                </a:solidFill>
                <a:latin typeface="Arial"/>
              </a:rPr>
              <a:t>Indicators aggregated by day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383280"/>
            <a:ext cx="3931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A78D6"/>
                </a:solidFill>
                <a:latin typeface="Consolas"/>
              </a:rPr>
              <a:t>resumo_mensal_qualidade_ar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3383280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364A"/>
                </a:solidFill>
                <a:latin typeface="Arial"/>
              </a:rPr>
              <a:t>Indicators aggregated by month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297680"/>
            <a:ext cx="10424160" cy="164592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0B1F33"/>
              </a:gs>
              <a:gs pos="100000">
                <a:srgbClr val="162E4A"/>
              </a:gs>
            </a:gsLst>
            <a:lin scaled="0" ang="18900000"/>
          </a:gradFill>
          <a:ln>
            <a:noFill/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/>
          <a:lstStyle/>
          <a:p>
            <a:pPr algn="ctr"/>
            <a:r>
              <a:rPr sz="1500" b="1">
                <a:solidFill>
                  <a:srgbClr val="E8A300"/>
                </a:solidFill>
                <a:latin typeface="Arial"/>
              </a:rPr>
              <a:t>Rerun without duplicates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  <a:latin typeface="Arial"/>
              </a:rPr>
              <a:t>UNIQUE key on data_hora plus Insert/Update: rerunning the process updates existing records instead of duplicating. Validated by running the workflow twice in a row (8131 rows both times).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Module 6 | Apache Hop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BAF7A"/>
                </a:solidFill>
                <a:latin typeface="Arial"/>
              </a:rPr>
              <a:t>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0B1F33"/>
                </a:solidFill>
                <a:latin typeface="Arial"/>
              </a:rPr>
              <a:t>Indicators calculated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61872"/>
            <a:ext cx="1188720" cy="508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erotrack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74320"/>
            <a:ext cx="502920" cy="502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173736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800">
                <a:solidFill>
                  <a:srgbClr val="26364A"/>
                </a:solidFill>
                <a:latin typeface="Arial"/>
              </a:rPr>
              <a:t>•  Total treated and rejected readings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800">
                <a:solidFill>
                  <a:srgbClr val="26364A"/>
                </a:solidFill>
                <a:latin typeface="Arial"/>
              </a:rPr>
              <a:t>•  Percentage of hours in critical condition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800">
                <a:solidFill>
                  <a:srgbClr val="26364A"/>
                </a:solidFill>
                <a:latin typeface="Arial"/>
              </a:rPr>
              <a:t>•  Average and maximum CO and NO2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800">
                <a:solidFill>
                  <a:srgbClr val="26364A"/>
                </a:solidFill>
                <a:latin typeface="Arial"/>
              </a:rPr>
              <a:t>•  Monthly trend of CO and NO2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800">
                <a:solidFill>
                  <a:srgbClr val="26364A"/>
                </a:solidFill>
                <a:latin typeface="Arial"/>
              </a:rPr>
              <a:t>•  Distribution of readings by level (good, moderate, critical)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800">
                <a:solidFill>
                  <a:srgbClr val="26364A"/>
                </a:solidFill>
                <a:latin typeface="Arial"/>
              </a:rPr>
              <a:t>•  Readings by time of day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800">
                <a:solidFill>
                  <a:srgbClr val="26364A"/>
                </a:solidFill>
                <a:latin typeface="Arial"/>
              </a:rPr>
              <a:t>•  Ranking of the ten worst days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Module 6 | Apache Hop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BAF7A"/>
                </a:solidFill>
                <a:latin typeface="Arial"/>
              </a:rPr>
              <a:t>VISUALIZATION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0B1F33"/>
                </a:solidFill>
                <a:latin typeface="Arial"/>
              </a:rPr>
              <a:t>AeroTrack dashboard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61872"/>
            <a:ext cx="1188720" cy="508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erotrack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74320"/>
            <a:ext cx="502920" cy="502920"/>
          </a:xfrm>
          <a:prstGeom prst="rect">
            <a:avLst/>
          </a:prstGeom>
        </p:spPr>
      </p:pic>
      <p:pic>
        <p:nvPicPr>
          <p:cNvPr id="7" name="Picture 6" descr="E01-dashboard-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1600200"/>
            <a:ext cx="9692640" cy="1135856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Module 6 | Apache Hop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BAF7A"/>
                </a:solidFill>
                <a:latin typeface="Arial"/>
              </a:rPr>
              <a:t>ANSWERING THE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0B1F33"/>
                </a:solidFill>
                <a:latin typeface="Arial"/>
              </a:rPr>
              <a:t>Ranking of the ten worst days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61872"/>
            <a:ext cx="1188720" cy="508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erotrack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74320"/>
            <a:ext cx="502920" cy="502920"/>
          </a:xfrm>
          <a:prstGeom prst="rect">
            <a:avLst/>
          </a:prstGeom>
        </p:spPr>
      </p:pic>
      <p:pic>
        <p:nvPicPr>
          <p:cNvPr id="7" name="Picture 6" descr="E02-dashboard-rank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7360" y="1737360"/>
            <a:ext cx="8686800" cy="305395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Module 6 | Apache Hop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BAF7A"/>
                </a:solidFill>
                <a:latin typeface="Arial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0B1F33"/>
                </a:solidFill>
                <a:latin typeface="Arial"/>
              </a:rPr>
              <a:t>Validation of results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61872"/>
            <a:ext cx="1188720" cy="508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erotrack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74320"/>
            <a:ext cx="502920" cy="5029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2960" y="1737360"/>
            <a:ext cx="3291840" cy="1234440"/>
          </a:xfrm>
          <a:prstGeom prst="roundRect">
            <a:avLst>
              <a:gd name="adj" fmla="val 16000"/>
            </a:avLst>
          </a:prstGeom>
          <a:solidFill>
            <a:srgbClr val="F2F7FB"/>
          </a:solidFill>
          <a:ln w="9525">
            <a:solidFill>
              <a:srgbClr val="C9D8E8"/>
            </a:solidFill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865376"/>
            <a:ext cx="296265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98781"/>
                </a:solidFill>
                <a:latin typeface="Arial"/>
              </a:rPr>
              <a:t>TREATED READINGS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2157984"/>
            <a:ext cx="2962656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0B1F33"/>
                </a:solidFill>
                <a:latin typeface="Arial"/>
              </a:rPr>
              <a:t>8,131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737360"/>
            <a:ext cx="3291840" cy="1234440"/>
          </a:xfrm>
          <a:prstGeom prst="roundRect">
            <a:avLst>
              <a:gd name="adj" fmla="val 16000"/>
            </a:avLst>
          </a:prstGeom>
          <a:solidFill>
            <a:srgbClr val="F2F7FB"/>
          </a:solidFill>
          <a:ln w="9525">
            <a:solidFill>
              <a:srgbClr val="C9D8E8"/>
            </a:solidFill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7992" y="1865376"/>
            <a:ext cx="296265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98781"/>
                </a:solidFill>
                <a:latin typeface="Arial"/>
              </a:rPr>
              <a:t>REJECTED RECORDS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07992" y="2157984"/>
            <a:ext cx="2962656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0B1F33"/>
                </a:solidFill>
                <a:latin typeface="Arial"/>
              </a:rPr>
              <a:t>1,226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63840" y="1737360"/>
            <a:ext cx="3291840" cy="1234440"/>
          </a:xfrm>
          <a:prstGeom prst="roundRect">
            <a:avLst>
              <a:gd name="adj" fmla="val 16000"/>
            </a:avLst>
          </a:prstGeom>
          <a:solidFill>
            <a:srgbClr val="F2F7FB"/>
          </a:solidFill>
          <a:ln w="9525">
            <a:solidFill>
              <a:srgbClr val="C9D8E8"/>
            </a:solidFill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2" y="1865376"/>
            <a:ext cx="296265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98781"/>
                </a:solidFill>
                <a:latin typeface="Arial"/>
              </a:rPr>
              <a:t>% CRITICAL HOURS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28432" y="2157984"/>
            <a:ext cx="2962656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D03B3B"/>
                </a:solidFill>
                <a:latin typeface="Arial"/>
              </a:rPr>
              <a:t>13.11%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200400"/>
            <a:ext cx="3291840" cy="1234440"/>
          </a:xfrm>
          <a:prstGeom prst="roundRect">
            <a:avLst>
              <a:gd name="adj" fmla="val 16000"/>
            </a:avLst>
          </a:prstGeom>
          <a:solidFill>
            <a:srgbClr val="F2F7FB"/>
          </a:solidFill>
          <a:ln w="9525">
            <a:solidFill>
              <a:srgbClr val="C9D8E8"/>
            </a:solidFill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3328416"/>
            <a:ext cx="296265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98781"/>
                </a:solidFill>
                <a:latin typeface="Arial"/>
              </a:rPr>
              <a:t>AVG. CO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3621024"/>
            <a:ext cx="2962656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0B1F33"/>
                </a:solidFill>
                <a:latin typeface="Arial"/>
              </a:rPr>
              <a:t>2.15 mg/m3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43400" y="3200400"/>
            <a:ext cx="3291840" cy="1234440"/>
          </a:xfrm>
          <a:prstGeom prst="roundRect">
            <a:avLst>
              <a:gd name="adj" fmla="val 16000"/>
            </a:avLst>
          </a:prstGeom>
          <a:solidFill>
            <a:srgbClr val="F2F7FB"/>
          </a:solidFill>
          <a:ln w="9525">
            <a:solidFill>
              <a:srgbClr val="C9D8E8"/>
            </a:solidFill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7992" y="3328416"/>
            <a:ext cx="296265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98781"/>
                </a:solidFill>
                <a:latin typeface="Arial"/>
              </a:rPr>
              <a:t>AVG. NO2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7992" y="3621024"/>
            <a:ext cx="2962656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0B1F33"/>
                </a:solidFill>
                <a:latin typeface="Arial"/>
              </a:rPr>
              <a:t>113.09 ug/m3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63840" y="3200400"/>
            <a:ext cx="3291840" cy="1234440"/>
          </a:xfrm>
          <a:prstGeom prst="roundRect">
            <a:avLst>
              <a:gd name="adj" fmla="val 16000"/>
            </a:avLst>
          </a:prstGeom>
          <a:solidFill>
            <a:srgbClr val="F2F7FB"/>
          </a:solidFill>
          <a:ln w="9525">
            <a:solidFill>
              <a:srgbClr val="C9D8E8"/>
            </a:solidFill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28432" y="3328416"/>
            <a:ext cx="296265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98781"/>
                </a:solidFill>
                <a:latin typeface="Arial"/>
              </a:rPr>
              <a:t>DAYS CONSOLIDATED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28432" y="3621024"/>
            <a:ext cx="2962656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0B1F33"/>
                </a:solidFill>
                <a:latin typeface="Arial"/>
              </a:rPr>
              <a:t>363</a:t>
            </a:r>
          </a:p>
        </p:txBody>
      </p:sp>
      <p:pic>
        <p:nvPicPr>
          <p:cNvPr id="25" name="Picture 24" descr="icon_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709160"/>
            <a:ext cx="502920" cy="5029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463040" y="4709160"/>
            <a:ext cx="97840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26364A"/>
                </a:solidFill>
                <a:latin typeface="Arial"/>
              </a:rPr>
              <a:t>Valid plus rejected readings match the dataset total after removing the 114 empty export rows. The</a:t>
            </a:r>
          </a:p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26364A"/>
                </a:solidFill>
                <a:latin typeface="Arial"/>
              </a:rPr>
              <a:t>worst-day ranking shows high NO2 and a high critical-hour share on the same dates as the highest CO,</a:t>
            </a:r>
          </a:p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26364A"/>
                </a:solidFill>
                <a:latin typeface="Arial"/>
              </a:rPr>
              <a:t>consistent with real pollutant behavior.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Module 6 | Apache Hop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4008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Arial"/>
              </a:rPr>
              <a:t>Every critical hour now has a record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417320"/>
            <a:ext cx="1188720" cy="50800"/>
          </a:xfrm>
          <a:prstGeom prst="roundRect">
            <a:avLst>
              <a:gd name="adj" fmla="val 50000"/>
            </a:avLst>
          </a:prstGeom>
          <a:solidFill>
            <a:srgbClr val="E8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700">
                <a:solidFill>
                  <a:srgbClr val="CFE3F7"/>
                </a:solidFill>
                <a:latin typeface="Arial"/>
              </a:rPr>
              <a:t>•  AeroTrack turns raw, noisy sensor exports into a database that can answer, with evidence, when air quality was worst</a:t>
            </a:r>
          </a:p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700">
                <a:solidFill>
                  <a:srgbClr val="CFE3F7"/>
                </a:solidFill>
                <a:latin typeface="Arial"/>
              </a:rPr>
              <a:t>•  The CO/NO2 classification was calibrated on the dataset's real distribution, not arbitrary thresholds</a:t>
            </a:r>
          </a:p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700">
                <a:solidFill>
                  <a:srgbClr val="CFE3F7"/>
                </a:solidFill>
                <a:latin typeface="Arial"/>
              </a:rPr>
              <a:t>•  Every table is safe to reload: Insert/Update guarantees no duplicate history, run after run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Module 6 | Apache 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828800" y="-1828800"/>
            <a:ext cx="6400800" cy="6400800"/>
          </a:xfrm>
          <a:prstGeom prst="roundRect">
            <a:avLst>
              <a:gd name="adj" fmla="val 50000"/>
            </a:avLst>
          </a:prstGeom>
          <a:solidFill>
            <a:srgbClr val="16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601200" y="4114800"/>
            <a:ext cx="5486400" cy="5486400"/>
          </a:xfrm>
          <a:prstGeom prst="roundRect">
            <a:avLst>
              <a:gd name="adj" fmla="val 50000"/>
            </a:avLst>
          </a:prstGeom>
          <a:solidFill>
            <a:srgbClr val="16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91440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Arial"/>
              </a:rPr>
              <a:t>AeroTrack Team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0" y="1600200"/>
            <a:ext cx="1216152" cy="50800"/>
          </a:xfrm>
          <a:prstGeom prst="roundRect">
            <a:avLst>
              <a:gd name="adj" fmla="val 50000"/>
            </a:avLst>
          </a:prstGeom>
          <a:solidFill>
            <a:srgbClr val="E8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194560"/>
            <a:ext cx="1219169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 i="0">
                <a:solidFill>
                  <a:srgbClr val="FFFFFF"/>
                </a:solidFill>
                <a:latin typeface="Arial"/>
              </a:rPr>
              <a:t>Juliana Ballin Lima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2578608"/>
            <a:ext cx="121916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1BAF7A"/>
                </a:solidFill>
                <a:latin typeface="Arial"/>
              </a:rPr>
              <a:t>@JulianaBallin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3108960"/>
            <a:ext cx="1219169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 i="0">
                <a:solidFill>
                  <a:srgbClr val="FFFFFF"/>
                </a:solidFill>
                <a:latin typeface="Arial"/>
              </a:rPr>
              <a:t>Allef Oliveira Ramos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3493008"/>
            <a:ext cx="121916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1BAF7A"/>
                </a:solidFill>
                <a:latin typeface="Arial"/>
              </a:rPr>
              <a:t>@allef-oliveira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4023360"/>
            <a:ext cx="1219169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 i="0">
                <a:solidFill>
                  <a:srgbClr val="FFFFFF"/>
                </a:solidFill>
                <a:latin typeface="Arial"/>
              </a:rPr>
              <a:t>Fernanda de Oliveira da Costa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4407408"/>
            <a:ext cx="121916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1BAF7A"/>
                </a:solidFill>
                <a:latin typeface="Arial"/>
              </a:rPr>
              <a:t>@nanda-costa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4937760"/>
            <a:ext cx="1219169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 i="0">
                <a:solidFill>
                  <a:srgbClr val="FFFFFF"/>
                </a:solidFill>
                <a:latin typeface="Arial"/>
              </a:rPr>
              <a:t>Pedro Henrique Oliveira Dias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0" y="5321808"/>
            <a:ext cx="121916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1BAF7A"/>
                </a:solidFill>
                <a:latin typeface="Arial"/>
              </a:rPr>
              <a:t>@pedroddias-oss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0" y="6309360"/>
            <a:ext cx="121916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 i="0">
                <a:solidFill>
                  <a:srgbClr val="898781"/>
                </a:solidFill>
                <a:latin typeface="Arial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