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874" y="1965960"/>
            <a:ext cx="3685286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24612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CFE3F7"/>
                </a:solidFill>
                <a:latin typeface="Arial"/>
              </a:rPr>
              <a:t>Monitoramento de Qualidade do Ar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947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AF7A"/>
                </a:solidFill>
                <a:latin typeface="Arial"/>
              </a:rPr>
              <a:t>Trabalho Final do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Allef Oliveira Ramos   ·   Fernanda de Oliveira da Costa   ·   Juliana Ballin Lima   ·   Pedro Henrique Oliveira Dias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722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98781"/>
                </a:solidFill>
                <a:latin typeface="Arial"/>
              </a:rPr>
              <a:t>Capacitação em IA e Transformação 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lu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68880" y="914400"/>
            <a:ext cx="9052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Você não consegue ver o ar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que respira.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2514600"/>
            <a:ext cx="88696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 poluição do ar é um dos maiores riscos ambientais à saúde no mundo.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Os níveis de CO e NO2 podem disparar por horas sem que ninguém perceba,</a:t>
            </a:r>
          </a:p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CFE3F7"/>
                </a:solidFill>
                <a:latin typeface="Arial"/>
              </a:rPr>
              <a:t>até que a exposição já tenha acontecido.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663440"/>
            <a:ext cx="10515600" cy="1463040"/>
          </a:xfrm>
          <a:prstGeom prst="roundRect">
            <a:avLst>
              <a:gd name="adj" fmla="val 12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89204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A pergunta real não é “o ar está poluído”. É: exatamente QUANDO ele esteve</a:t>
            </a:r>
          </a:p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E8A300"/>
                </a:solidFill>
                <a:latin typeface="Arial"/>
              </a:rPr>
              <a:t>pior, e quais condições contribuíram para isso?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Sem dados tratados, essa pergunta não tem resposta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23444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084832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Ruído do sensor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Leituras ausentes, um valor sentinela -200 e linhas vazias do export escondem o sinal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084832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estrutura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Nada indica quais horas, dias ou meses foram realmente críticos.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383280" cy="329184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62E4A"/>
              </a:gs>
              <a:gs pos="100000">
                <a:srgbClr val="1C3252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84832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83880" y="30632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Sem memória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20440"/>
            <a:ext cx="30175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Sem um banco de dados, toda análise recomeça do zero, sempre.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1">
                <a:solidFill>
                  <a:srgbClr val="28C48C"/>
                </a:solidFill>
                <a:latin typeface="Arial"/>
              </a:rPr>
              <a:t>O AeroTrack foi criado exatamente para preencher essa lacuna.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rotrac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286000"/>
            <a:ext cx="335026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0">
                <a:solidFill>
                  <a:srgbClr val="CFE3F7"/>
                </a:solidFill>
                <a:latin typeface="Arial"/>
              </a:rPr>
              <a:t>Do dado bruto do sensor a uma resposta clara e confiável.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8A300"/>
                </a:solidFill>
                <a:latin typeface="Arial"/>
              </a:rPr>
              <a:t>Construído de ponta a ponta com Apache 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Dataset e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Dataset: Air Quality, UCI Machine Learning Repository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Origem: estação de monitoramento em uma cidade italiana (De Vito et al.)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Período: março de 2004 a fevereiro de 2005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Volume: 9357 leituras horárias, 15 variáveis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329184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A78D6"/>
              </a:gs>
              <a:gs pos="100000">
                <a:srgbClr val="1BAF7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0632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Em quais períodos ocorreram as piores condições de qualidade do ar, e quais variáveis ambientais estavam associadas a esses períodos?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Arquitetura de ponta a ponta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aerotrack-flowchart-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3120"/>
            <a:ext cx="11247120" cy="196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Duas pipelines Apache Hop, orquestradas por um workflow: pl_01_ingestion_treatment e</a:t>
            </a:r>
          </a:p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26364A"/>
                </a:solidFill>
                <a:latin typeface="Arial"/>
              </a:rPr>
              <a:t>pl_02_indicator_consolidation, alimentando um banco PostgreSQL e um dashboard.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ingestão e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CSV Input lê o dataset bruto (separador ponto e vírgula, decimal com vírgula)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Filter Rows remove as linhas vazias deixadas pelo export do dataset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Formula monta um único texto de data e hora; Null If trata o sentinela -200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Select Values renomeia os campos e converte o texto em um tipo Data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Calculator, Value Mapper e Number Range derivam ano, mês, turno e o nível de CO/NO2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Janino calcula se a leitura é válida; Filter Rows separa leituras válidas das rejeitadas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no PostgreSQL com chave em data_hora, seguro para reexecutar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APACHE 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Pipeline de consolidação e orquestração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pl_02_indicator_consolidation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Table Input agrega as leituras tratadas por dia e por mês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Insert/Update grava resumo_diario_qualidade_ar e resumo_mensal_qualidade_ar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AF7A"/>
                </a:solidFill>
                <a:latin typeface="Arial"/>
              </a:rPr>
              <a:t>wf_air_quality_orchestration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60520"/>
            <a:ext cx="10424160" cy="9144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START  →  Ingestão e tratamento  →  Consolidação de indicadores  →  Processo concluído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492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26364A"/>
                </a:solidFill>
                <a:latin typeface="Arial"/>
              </a:rPr>
              <a:t>O segundo hop só é seguido se a ingestão terminar com sucesso, evitando consolidar indicadores a partir de uma carga incompleta.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QUALIDADE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Tratamentos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Sentinela -200: convertido em nulo antes de qualquer cálculo (Null If)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114 linhas vazias do export: descartadas na ingestão (Filter Rows)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Leituras sem nenhum poluente de referência (CO, NOx e NO2): separadas em leituras_rejeitadas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Classificação analítica de CO e NO2 (BOM, MODERADO, CRÍTICO): calibrada pelos percentis do próprio dataset, sem referência regulatória externa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6364A"/>
                </a:solidFill>
                <a:latin typeface="Arial"/>
              </a:rPr>
              <a:t>•  Correção de limite: a faixa NOITE excluía a hora 23 até ser ampliada para incluí-la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PERSISTÊNCIA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Banco de dados e segurança de reexecução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leituras_qualidade_ar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Dados tratados e detalhados, uma linha por leitura válida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leituras_rejeitadas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86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Leituras sem nenhum poluente de referência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resumo_diario_qualidade_ar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8346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78D6"/>
                </a:solidFill>
                <a:latin typeface="Consolas"/>
              </a:rPr>
              <a:t>resumo_mensal_qualidade_ar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832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364A"/>
                </a:solidFill>
                <a:latin typeface="Arial"/>
              </a:rPr>
              <a:t>Indicadores agregados por mês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97680"/>
            <a:ext cx="10424160" cy="164592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0B1F33"/>
              </a:gs>
              <a:gs pos="100000">
                <a:srgbClr val="162E4A"/>
              </a:gs>
            </a:gsLst>
            <a:lin scaled="0" ang="18900000"/>
          </a:gra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/>
          <a:lstStyle/>
          <a:p>
            <a:pPr algn="ctr"/>
            <a:r>
              <a:rPr sz="1500" b="1">
                <a:solidFill>
                  <a:srgbClr val="E8A300"/>
                </a:solidFill>
                <a:latin typeface="Arial"/>
              </a:rPr>
              <a:t>Reexecução sem duplicidade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Chave UNIQUE em data_hora mais Insert/Update: reexecutar o processo atualiza os registros existentes em vez de duplicar. Validado executando o workflow duas vezes seguidas (8131 linhas nas duas execuções).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1188720" cy="11887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0" y="10515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Arial"/>
              </a:rPr>
              <a:t>Demonstração 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4288" y="1965960"/>
            <a:ext cx="9052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E8A300"/>
                </a:solidFill>
                <a:latin typeface="Arial"/>
              </a:rPr>
              <a:t>Agora, direto no Apache Hop Designer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880360"/>
            <a:ext cx="10515600" cy="2880360"/>
          </a:xfrm>
          <a:prstGeom prst="roundRect">
            <a:avLst>
              <a:gd name="adj" fmla="val 10000"/>
            </a:avLst>
          </a:prstGeom>
          <a:solidFill>
            <a:srgbClr val="162E4A"/>
          </a:solidFill>
          <a:ln>
            <a:noFill/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9784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Abertura do projeto aerotrack no Hop Designer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pl_01_ingestion_treatment: ingestão, tratamento e classificação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Canvas de pl_02_indicator_consolidation: resumos diário e mensal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Execução de wf_air_quality_orchestration de ponta a ponta, ao vivo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Conferência do resultado direto no 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Indicadores calculados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Total de leituras tratadas e rejeitadas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Percentual de horas em condição crítica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CO e NO2 médios e máximos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Evolução mensal de CO e de NO2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Distribuição das leituras por nível (bom, moderado, crítico)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Leituras por turno do dia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800">
                <a:solidFill>
                  <a:srgbClr val="26364A"/>
                </a:solidFill>
                <a:latin typeface="Arial"/>
              </a:rPr>
              <a:t>•  Ranking dos dez piores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Dashboard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1-dashboard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00200"/>
            <a:ext cx="9692640" cy="1135856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Interface do dashboard em inglês, junto com o restante do código do projeto.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RESPONDENDO À PERGUNTA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Ranking dos dez piores dias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E02-dashboard-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737360"/>
            <a:ext cx="8686800" cy="3053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Validação dos resultados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LEITURAS TRATADAS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8.131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REGISTROS REJEITADOS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1.226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73736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6537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% HORAS CRÍTICAS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15798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D03B3B"/>
                </a:solidFill>
                <a:latin typeface="Arial"/>
              </a:rPr>
              <a:t>13,11%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CO MÉDIO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2,15 mg/m3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NO2 MÉDIO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113,09 ug/m3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200400"/>
            <a:ext cx="3291840" cy="1234440"/>
          </a:xfrm>
          <a:prstGeom prst="roundRect">
            <a:avLst>
              <a:gd name="adj" fmla="val 16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328416"/>
            <a:ext cx="296265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98781"/>
                </a:solidFill>
                <a:latin typeface="Arial"/>
              </a:rPr>
              <a:t>DIAS CONSOLIDADOS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621024"/>
            <a:ext cx="2962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0B1F33"/>
                </a:solidFill>
                <a:latin typeface="Arial"/>
              </a:rPr>
              <a:t>363</a:t>
            </a:r>
          </a:p>
        </p:txBody>
      </p:sp>
      <p:pic>
        <p:nvPicPr>
          <p:cNvPr id="25" name="Picture 24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40" y="4709160"/>
            <a:ext cx="9784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Leituras válidas mais rejeitadas batem com o total do dataset após remover as 114 linhas vazias do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export. O ranking dos piores dias mostra NO2 e percentual de horas críticas elevados nas mesmas datas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6364A"/>
                </a:solidFill>
                <a:latin typeface="Arial"/>
              </a:rPr>
              <a:t>de maior CO, consistente com o comportamento real dos poluentes.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Toda hora crítica agora tem um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417320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O AeroTrack transforma exports brutos e ruidosos em um banco capaz de responder, com evidência, quando a qualidade do ar foi pior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A classificação de CO/NO2 foi calibrada pela distribuição real do dataset, não por limites arbitrários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700">
                <a:solidFill>
                  <a:srgbClr val="CFE3F7"/>
                </a:solidFill>
                <a:latin typeface="Arial"/>
              </a:rPr>
              <a:t>•  Toda tabela é segura para recarregar: Insert/Update garante nenhuma duplicidade, execução após execução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AF7A"/>
                </a:solidFill>
                <a:latin typeface="Arial"/>
              </a:rPr>
              <a:t>PARA SABER MAIS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0B1F33"/>
                </a:solidFill>
                <a:latin typeface="Arial"/>
              </a:rPr>
              <a:t>Relatório de desenvolvimento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61872"/>
            <a:ext cx="1188720" cy="50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erotrack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74320"/>
            <a:ext cx="502920" cy="502920"/>
          </a:xfrm>
          <a:prstGeom prst="rect">
            <a:avLst/>
          </a:prstGeom>
        </p:spPr>
      </p:pic>
      <p:pic>
        <p:nvPicPr>
          <p:cNvPr id="7" name="Picture 6" descr="report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91640"/>
            <a:ext cx="3331852" cy="4709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903720" y="2103120"/>
            <a:ext cx="4572000" cy="384048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9525">
            <a:solidFill>
              <a:srgbClr val="C9D8E8"/>
            </a:solidFill>
          </a:ln>
          <a:effectLst/>
          <a:effectLst>
            <a:outerShdw blurRad="180000" dist="45000" dir="5400000" rotWithShape="0">
              <a:srgbClr val="0B1F33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33172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AF7A"/>
                </a:solidFill>
                <a:latin typeface="Arial"/>
              </a:rPr>
              <a:t>23 PÁGINAS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743200"/>
            <a:ext cx="4023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Arquitetura, pipelines e workflow em detalhe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Tratamento de dados e ajustes técnicos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Contrato do banco de dados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Indicadores, dashboard e validação dos resultados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>
                <a:solidFill>
                  <a:srgbClr val="26364A"/>
                </a:solidFill>
                <a:latin typeface="Arial"/>
              </a:rPr>
              <a:t>•  Manual de replicação passo a passo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623560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98781"/>
                </a:solidFill>
                <a:latin typeface="Arial"/>
              </a:rPr>
              <a:t>docs/evidencias/relatorio-desenvolvimento-aerotrack.pdf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AeroTrack | Módulo 6 | Apache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987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828800" y="-1828800"/>
            <a:ext cx="6400800" cy="64008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41148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Equipe AeroTrack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600200"/>
            <a:ext cx="1216152" cy="50800"/>
          </a:xfrm>
          <a:prstGeom prst="roundRect">
            <a:avLst>
              <a:gd name="adj" fmla="val 50000"/>
            </a:avLst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1945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Juliana Ballin Lima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5786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@JulianaBallin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1089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Allef Oliveira Ramos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4930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@allef-oliveira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0233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Fernanda de Oliveira da Costa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4074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@nanda-costa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93776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Arial"/>
              </a:rPr>
              <a:t>Pedro Henrique Oliveira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321808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BAF7A"/>
                </a:solidFill>
                <a:latin typeface="Arial"/>
              </a:rPr>
              <a:t>@pedroddias-oss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98781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