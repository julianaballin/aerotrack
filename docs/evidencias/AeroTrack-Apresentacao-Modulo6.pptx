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89320"/>
            <a:ext cx="12191695" cy="54864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erotrack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148840"/>
            <a:ext cx="4114800" cy="1005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342900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>
                <a:solidFill>
                  <a:srgbClr val="CFE3F7"/>
                </a:solidFill>
                <a:latin typeface="Arial"/>
              </a:rPr>
              <a:t>Monitoramento de Qualidade do Ar com Apache 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977639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BAF7A"/>
                </a:solidFill>
                <a:latin typeface="Arial"/>
              </a:rPr>
              <a:t>Trabalho Final | Modulo 6 | Apache 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892040"/>
            <a:ext cx="121916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Arial"/>
              </a:rPr>
              <a:t>Allef Oliveira Ramos   ·   Fernanda de Oliveira da Costa   ·   Juliana Ballin Lima   ·   Pedro Henrique Oliveira Dias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172200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898781"/>
                </a:solidFill>
                <a:latin typeface="Arial"/>
              </a:rPr>
              <a:t>Capacitacao em IA e Transformacao Digital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AF7A"/>
                </a:solidFill>
                <a:latin typeface="Arial"/>
              </a:rPr>
              <a:t>ROTEIRO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B1F33"/>
                </a:solidFill>
                <a:latin typeface="Arial"/>
              </a:rPr>
              <a:t>Agenda da apresentacao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188720" cy="381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erotrack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92608"/>
            <a:ext cx="502920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173736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900">
                <a:solidFill>
                  <a:srgbClr val="26364A"/>
                </a:solidFill>
                <a:latin typeface="Arial"/>
              </a:rPr>
              <a:t>•  Contexto, dataset e problema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900">
                <a:solidFill>
                  <a:srgbClr val="26364A"/>
                </a:solidFill>
                <a:latin typeface="Arial"/>
              </a:rPr>
              <a:t>•  Arquitetura da solucao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900">
                <a:solidFill>
                  <a:srgbClr val="26364A"/>
                </a:solidFill>
                <a:latin typeface="Arial"/>
              </a:rPr>
              <a:t>•  Pipelines e workflow no Apache Hop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900">
                <a:solidFill>
                  <a:srgbClr val="26364A"/>
                </a:solidFill>
                <a:latin typeface="Arial"/>
              </a:rPr>
              <a:t>•  Tratamento de dados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900">
                <a:solidFill>
                  <a:srgbClr val="26364A"/>
                </a:solidFill>
                <a:latin typeface="Arial"/>
              </a:rPr>
              <a:t>•  Banco de dados e estrategia de reexecucao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900">
                <a:solidFill>
                  <a:srgbClr val="26364A"/>
                </a:solidFill>
                <a:latin typeface="Arial"/>
              </a:rPr>
              <a:t>•  Indicadores e dashboard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900">
                <a:solidFill>
                  <a:srgbClr val="26364A"/>
                </a:solidFill>
                <a:latin typeface="Arial"/>
              </a:rPr>
              <a:t>•  Validacao dos resultados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900">
                <a:solidFill>
                  <a:srgbClr val="26364A"/>
                </a:solidFill>
                <a:latin typeface="Arial"/>
              </a:rPr>
              <a:t>•  Conclusao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98781"/>
                </a:solidFill>
                <a:latin typeface="Arial"/>
              </a:rPr>
              <a:t>AeroTrack | Modulo 6 | Apache 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98781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AF7A"/>
                </a:solidFill>
                <a:latin typeface="Arial"/>
              </a:rPr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B1F33"/>
                </a:solidFill>
                <a:latin typeface="Arial"/>
              </a:rPr>
              <a:t>Dataset e problema principal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188720" cy="381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erotrack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92608"/>
            <a:ext cx="502920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1737360"/>
            <a:ext cx="6949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800">
                <a:solidFill>
                  <a:srgbClr val="26364A"/>
                </a:solidFill>
                <a:latin typeface="Arial"/>
              </a:rPr>
              <a:t>•  Dataset: Air Quality, UCI Machine Learning Repository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800">
                <a:solidFill>
                  <a:srgbClr val="26364A"/>
                </a:solidFill>
                <a:latin typeface="Arial"/>
              </a:rPr>
              <a:t>•  Origem: estacao de monitoramento em uma cidade italiana (De Vito et al.)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800">
                <a:solidFill>
                  <a:srgbClr val="26364A"/>
                </a:solidFill>
                <a:latin typeface="Arial"/>
              </a:rPr>
              <a:t>•  Periodo: marco de 2004 a fevereiro de 2005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800">
                <a:solidFill>
                  <a:srgbClr val="26364A"/>
                </a:solidFill>
                <a:latin typeface="Arial"/>
              </a:rPr>
              <a:t>•  Volume: 9357 leituras horarias, 15 variaveis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2440" y="1783080"/>
            <a:ext cx="3383280" cy="3108960"/>
          </a:xfrm>
          <a:prstGeom prst="rect">
            <a:avLst/>
          </a:prstGeom>
          <a:solidFill>
            <a:srgbClr val="F2F7FB"/>
          </a:solidFill>
          <a:ln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96596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AF7A"/>
                </a:solidFill>
                <a:latin typeface="Arial"/>
              </a:rPr>
              <a:t>PROBLEMA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331720"/>
            <a:ext cx="29718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0B1F33"/>
                </a:solidFill>
                <a:latin typeface="Arial"/>
              </a:rPr>
              <a:t>Em quais periodos ocorreram as piores condicoes de qualidade do ar registradas, e quais variaveis ambientais estavam associadas a esses periodos?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98781"/>
                </a:solidFill>
                <a:latin typeface="Arial"/>
              </a:rPr>
              <a:t>AeroTrack | Modulo 6 | Apache 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98781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AF7A"/>
                </a:solidFill>
                <a:latin typeface="Arial"/>
              </a:rPr>
              <a:t>SOLUCAO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B1F33"/>
                </a:solidFill>
                <a:latin typeface="Arial"/>
              </a:rPr>
              <a:t>Arquitetura da solucao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188720" cy="381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erotrack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92608"/>
            <a:ext cx="502920" cy="5029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2651760"/>
            <a:ext cx="1605229" cy="13716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Dataset
publico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245308" y="3246120"/>
            <a:ext cx="256034" cy="182880"/>
          </a:xfrm>
          <a:prstGeom prst="rightArrow">
            <a:avLst/>
          </a:prstGeom>
          <a:solidFill>
            <a:srgbClr val="898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01341" y="2651760"/>
            <a:ext cx="1605229" cy="13716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Pipeline de
ingestao e
tratamento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06569" y="3246120"/>
            <a:ext cx="256034" cy="182880"/>
          </a:xfrm>
          <a:prstGeom prst="rightArrow">
            <a:avLst/>
          </a:prstGeom>
          <a:solidFill>
            <a:srgbClr val="898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2602" y="2651760"/>
            <a:ext cx="1605229" cy="1371600"/>
          </a:xfrm>
          <a:prstGeom prst="rect">
            <a:avLst/>
          </a:prstGeom>
          <a:solidFill>
            <a:srgbClr val="E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Classificacao
analitica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67830" y="3246120"/>
            <a:ext cx="256034" cy="182880"/>
          </a:xfrm>
          <a:prstGeom prst="rightArrow">
            <a:avLst/>
          </a:prstGeom>
          <a:solidFill>
            <a:srgbClr val="898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3863" y="2651760"/>
            <a:ext cx="1605229" cy="13716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Banco de
dados
PostgreSQL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829091" y="3246120"/>
            <a:ext cx="256034" cy="182880"/>
          </a:xfrm>
          <a:prstGeom prst="rightArrow">
            <a:avLst/>
          </a:prstGeom>
          <a:solidFill>
            <a:srgbClr val="898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5124" y="2651760"/>
            <a:ext cx="1605229" cy="13716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Pipeline de
consolidacao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690352" y="3246120"/>
            <a:ext cx="256034" cy="182880"/>
          </a:xfrm>
          <a:prstGeom prst="rightArrow">
            <a:avLst/>
          </a:prstGeom>
          <a:solidFill>
            <a:srgbClr val="898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946385" y="2651760"/>
            <a:ext cx="1605229" cy="13716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48056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26364A"/>
                </a:solidFill>
                <a:latin typeface="Arial"/>
              </a:rPr>
              <a:t>Duas pipelines Apache Hop (pl_01_ingestao_tratamento e pl_02_consolidacao_indicadores), orquestradas pelo workflow wf_orquestracao_qualidade_ar, que so avanca para a consolidacao apos o sucesso da ingestao.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98781"/>
                </a:solidFill>
                <a:latin typeface="Arial"/>
              </a:rPr>
              <a:t>AeroTrack | Modulo 6 | Apache Hop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98781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AF7A"/>
                </a:solidFill>
                <a:latin typeface="Arial"/>
              </a:rPr>
              <a:t>APACHE 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B1F33"/>
                </a:solidFill>
                <a:latin typeface="Arial"/>
              </a:rPr>
              <a:t>Pipeline de ingestao e tratamento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188720" cy="381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erotrack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92608"/>
            <a:ext cx="502920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16916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700">
                <a:solidFill>
                  <a:srgbClr val="26364A"/>
                </a:solidFill>
                <a:latin typeface="Arial"/>
              </a:rPr>
              <a:t>•  CSV Input le o dataset bruto (separador ponto e virgula, decimal com virgula)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700">
                <a:solidFill>
                  <a:srgbClr val="26364A"/>
                </a:solidFill>
                <a:latin typeface="Arial"/>
              </a:rPr>
              <a:t>•  Filter Rows remove as linhas vazias deixadas pelo export do dataset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700">
                <a:solidFill>
                  <a:srgbClr val="26364A"/>
                </a:solidFill>
                <a:latin typeface="Arial"/>
              </a:rPr>
              <a:t>•  Formula combina data e hora em um texto unico; Null If trata o valor -200 (ausencia de leitura)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700">
                <a:solidFill>
                  <a:srgbClr val="26364A"/>
                </a:solidFill>
                <a:latin typeface="Arial"/>
              </a:rPr>
              <a:t>•  Select Values renomeia os campos e converte o texto de data para o tipo Data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700">
                <a:solidFill>
                  <a:srgbClr val="26364A"/>
                </a:solidFill>
                <a:latin typeface="Arial"/>
              </a:rPr>
              <a:t>•  Calculator, Value Mapper e Number Range derivam ano, mes, turno e o nivel de CO e de NO2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700">
                <a:solidFill>
                  <a:srgbClr val="26364A"/>
                </a:solidFill>
                <a:latin typeface="Arial"/>
              </a:rPr>
              <a:t>•  Janino calcula se a leitura e valida; Filter Rows separa leituras validas das rejeitadas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700">
                <a:solidFill>
                  <a:srgbClr val="26364A"/>
                </a:solidFill>
                <a:latin typeface="Arial"/>
              </a:rPr>
              <a:t>•  Insert/Update grava no PostgreSQL, com chave em data_hora (sem duplicar em reexecucoes)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98781"/>
                </a:solidFill>
                <a:latin typeface="Arial"/>
              </a:rPr>
              <a:t>AeroTrack | Modulo 6 | Apache 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98781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AF7A"/>
                </a:solidFill>
                <a:latin typeface="Arial"/>
              </a:rPr>
              <a:t>APACHE 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B1F33"/>
                </a:solidFill>
                <a:latin typeface="Arial"/>
              </a:rPr>
              <a:t>Pipeline de consolidacao e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188720" cy="381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erotrack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92608"/>
            <a:ext cx="502920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16916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AF7A"/>
                </a:solidFill>
                <a:latin typeface="Arial"/>
              </a:rPr>
              <a:t>pl_02_consolidacao_indicadores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>
                <a:solidFill>
                  <a:srgbClr val="26364A"/>
                </a:solidFill>
                <a:latin typeface="Arial"/>
              </a:rPr>
              <a:t>•  Table Input agrega as leituras tratadas por dia e por mes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>
                <a:solidFill>
                  <a:srgbClr val="26364A"/>
                </a:solidFill>
                <a:latin typeface="Arial"/>
              </a:rPr>
              <a:t>•  Insert/Update grava os resumos em resumo_diario_qualidade_ar e resumo_mensal_qualidade_ar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AF7A"/>
                </a:solidFill>
                <a:latin typeface="Arial"/>
              </a:rPr>
              <a:t>wf_orquestracao_qualidade_ar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251960"/>
            <a:ext cx="10424160" cy="822960"/>
          </a:xfrm>
          <a:prstGeom prst="rect">
            <a:avLst/>
          </a:prstGeom>
          <a:solidFill>
            <a:srgbClr val="F2F7FB"/>
          </a:solidFill>
          <a:ln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B1F33"/>
                </a:solidFill>
                <a:latin typeface="Consolas"/>
              </a:rPr>
              <a:t>START  →  Ingestao e tratamento  →  Consolidacao de indicadores  →  Processo concluido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98781"/>
                </a:solidFill>
                <a:latin typeface="Arial"/>
              </a:rPr>
              <a:t>AeroTrack | Modulo 6 | Apache 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98781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AF7A"/>
                </a:solidFill>
                <a:latin typeface="Arial"/>
              </a:rPr>
              <a:t>QUALIDADE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B1F33"/>
                </a:solidFill>
                <a:latin typeface="Arial"/>
              </a:rPr>
              <a:t>Tratamentos aplicados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188720" cy="381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erotrack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92608"/>
            <a:ext cx="502920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173736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800">
                <a:solidFill>
                  <a:srgbClr val="26364A"/>
                </a:solidFill>
                <a:latin typeface="Arial"/>
              </a:rPr>
              <a:t>•  Valor sentinela -200: convertido em nulo antes de qualquer calculo (Null If)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800">
                <a:solidFill>
                  <a:srgbClr val="26364A"/>
                </a:solidFill>
                <a:latin typeface="Arial"/>
              </a:rPr>
              <a:t>•  114 linhas vazias do export do dataset: descartadas na ingestao (Filter Rows)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800">
                <a:solidFill>
                  <a:srgbClr val="26364A"/>
                </a:solidFill>
                <a:latin typeface="Arial"/>
              </a:rPr>
              <a:t>•  Leituras sem nenhum poluente de referencia (CO, NOx e NO2): separadas em leituras_rejeitadas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800">
                <a:solidFill>
                  <a:srgbClr val="26364A"/>
                </a:solidFill>
                <a:latin typeface="Arial"/>
              </a:rPr>
              <a:t>•  Classificacao analitica de CO e de NO2 (BOM, MODERADO, CRITICO): calculada a partir dos percentis reais do dataset, sem referencia a norma regulatoria externa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98781"/>
                </a:solidFill>
                <a:latin typeface="Arial"/>
              </a:rPr>
              <a:t>AeroTrack | Modulo 6 | Apache 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98781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AF7A"/>
                </a:solidFill>
                <a:latin typeface="Arial"/>
              </a:rPr>
              <a:t>PERSISTENCIA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B1F33"/>
                </a:solidFill>
                <a:latin typeface="Arial"/>
              </a:rPr>
              <a:t>Banco de dados e reexecucao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188720" cy="381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erotrack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92608"/>
            <a:ext cx="502920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1737360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A78D6"/>
                </a:solidFill>
                <a:latin typeface="Consolas"/>
              </a:rPr>
              <a:t>leituras_qualidade_ar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737360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364A"/>
                </a:solidFill>
                <a:latin typeface="Arial"/>
              </a:rPr>
              <a:t>Dados tratados e detalhados, uma linha por leitura valida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04288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A78D6"/>
                </a:solidFill>
                <a:latin typeface="Consolas"/>
              </a:rPr>
              <a:t>leituras_rejeitadas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304288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364A"/>
                </a:solidFill>
                <a:latin typeface="Arial"/>
              </a:rPr>
              <a:t>Leituras sem poluente de referencia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71216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A78D6"/>
                </a:solidFill>
                <a:latin typeface="Consolas"/>
              </a:rPr>
              <a:t>resumo_diario_qualidade_ar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871216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364A"/>
                </a:solidFill>
                <a:latin typeface="Arial"/>
              </a:rPr>
              <a:t>Indicadores agregados por dia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38144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A78D6"/>
                </a:solidFill>
                <a:latin typeface="Consolas"/>
              </a:rPr>
              <a:t>resumo_mensal_qualidade_ar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438144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364A"/>
                </a:solidFill>
                <a:latin typeface="Arial"/>
              </a:rPr>
              <a:t>Indicadores agregados por mes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343400"/>
            <a:ext cx="10424160" cy="155448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500" b="1">
                <a:solidFill>
                  <a:srgbClr val="1BAF7A"/>
                </a:solidFill>
                <a:latin typeface="Arial"/>
              </a:rPr>
              <a:t>Reexecucao sem duplicidade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  <a:latin typeface="Arial"/>
              </a:rPr>
              <a:t>Chave UNIQUE em data_hora e carga por Insert/Update: reexecutar o processo atualiza os registros existentes em vez de duplicar. Validado executando o workflow duas vezes seguidas (8131 linhas nas duas execucoes).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98781"/>
                </a:solidFill>
                <a:latin typeface="Arial"/>
              </a:rPr>
              <a:t>AeroTrack | Modulo 6 | Apache Hop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98781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AF7A"/>
                </a:solidFill>
                <a:latin typeface="Arial"/>
              </a:rPr>
              <a:t>ANALISE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B1F33"/>
                </a:solidFill>
                <a:latin typeface="Arial"/>
              </a:rPr>
              <a:t>Indicadores calculados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188720" cy="381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erotrack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92608"/>
            <a:ext cx="502920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173736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800">
                <a:solidFill>
                  <a:srgbClr val="26364A"/>
                </a:solidFill>
                <a:latin typeface="Arial"/>
              </a:rPr>
              <a:t>•  Total de leituras tratadas e rejeitadas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800">
                <a:solidFill>
                  <a:srgbClr val="26364A"/>
                </a:solidFill>
                <a:latin typeface="Arial"/>
              </a:rPr>
              <a:t>•  Percentual de horas em condicao critica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800">
                <a:solidFill>
                  <a:srgbClr val="26364A"/>
                </a:solidFill>
                <a:latin typeface="Arial"/>
              </a:rPr>
              <a:t>•  CO e NO2 medios e maximos do periodo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800">
                <a:solidFill>
                  <a:srgbClr val="26364A"/>
                </a:solidFill>
                <a:latin typeface="Arial"/>
              </a:rPr>
              <a:t>•  Evolucao mensal de CO e de NO2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800">
                <a:solidFill>
                  <a:srgbClr val="26364A"/>
                </a:solidFill>
                <a:latin typeface="Arial"/>
              </a:rPr>
              <a:t>•  Distribuicao das leituras por nivel (BOM, MODERADO, CRITICO)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800">
                <a:solidFill>
                  <a:srgbClr val="26364A"/>
                </a:solidFill>
                <a:latin typeface="Arial"/>
              </a:rPr>
              <a:t>•  Leituras por turno do dia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800">
                <a:solidFill>
                  <a:srgbClr val="26364A"/>
                </a:solidFill>
                <a:latin typeface="Arial"/>
              </a:rPr>
              <a:t>•  Ranking dos dez dias com piores condicoes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98781"/>
                </a:solidFill>
                <a:latin typeface="Arial"/>
              </a:rPr>
              <a:t>AeroTrack | Modulo 6 | Apache 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98781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AF7A"/>
                </a:solidFill>
                <a:latin typeface="Arial"/>
              </a:rPr>
              <a:t>VISUALIZACAO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B1F33"/>
                </a:solidFill>
                <a:latin typeface="Arial"/>
              </a:rPr>
              <a:t>Dashboard AeroTrack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188720" cy="381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erotrack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92608"/>
            <a:ext cx="502920" cy="502920"/>
          </a:xfrm>
          <a:prstGeom prst="rect">
            <a:avLst/>
          </a:prstGeom>
        </p:spPr>
      </p:pic>
      <p:pic>
        <p:nvPicPr>
          <p:cNvPr id="7" name="Picture 6" descr="E01-dashboard-visao-ge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600200"/>
            <a:ext cx="9692640" cy="1135856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98781"/>
                </a:solidFill>
                <a:latin typeface="Arial"/>
              </a:rPr>
              <a:t>AeroTrack | Modulo 6 | Apache 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98781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AF7A"/>
                </a:solidFill>
                <a:latin typeface="Arial"/>
              </a:rPr>
              <a:t>RESULTADO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B1F33"/>
                </a:solidFill>
                <a:latin typeface="Arial"/>
              </a:rPr>
              <a:t>Ranking dos dez piores dias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188720" cy="381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erotrack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92608"/>
            <a:ext cx="502920" cy="502920"/>
          </a:xfrm>
          <a:prstGeom prst="rect">
            <a:avLst/>
          </a:prstGeom>
        </p:spPr>
      </p:pic>
      <p:pic>
        <p:nvPicPr>
          <p:cNvPr id="7" name="Picture 6" descr="E02-dashboard-ranking-d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1691640"/>
            <a:ext cx="8686800" cy="475059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98781"/>
                </a:solidFill>
                <a:latin typeface="Arial"/>
              </a:rPr>
              <a:t>AeroTrack | Modulo 6 | Apache 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98781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AF7A"/>
                </a:solidFill>
                <a:latin typeface="Arial"/>
              </a:rPr>
              <a:t>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B1F33"/>
                </a:solidFill>
                <a:latin typeface="Arial"/>
              </a:rPr>
              <a:t>Validacao dos resultados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188720" cy="381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erotrack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92608"/>
            <a:ext cx="502920" cy="5029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1783080"/>
            <a:ext cx="3291840" cy="1234440"/>
          </a:xfrm>
          <a:prstGeom prst="rect">
            <a:avLst/>
          </a:prstGeom>
          <a:solidFill>
            <a:srgbClr val="F2F7FB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9280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98781"/>
                </a:solidFill>
                <a:latin typeface="Arial"/>
              </a:rPr>
              <a:t>LEITURAS TRATADAS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67128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B1F33"/>
                </a:solidFill>
                <a:latin typeface="Arial"/>
              </a:rPr>
              <a:t>8.131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783080"/>
            <a:ext cx="3291840" cy="1234440"/>
          </a:xfrm>
          <a:prstGeom prst="rect">
            <a:avLst/>
          </a:prstGeom>
          <a:solidFill>
            <a:srgbClr val="F2F7FB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89280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98781"/>
                </a:solidFill>
                <a:latin typeface="Arial"/>
              </a:rPr>
              <a:t>LEITURAS REJEITADAS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167128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B1F33"/>
                </a:solidFill>
                <a:latin typeface="Arial"/>
              </a:rPr>
              <a:t>1.226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1783080"/>
            <a:ext cx="3291840" cy="1234440"/>
          </a:xfrm>
          <a:prstGeom prst="rect">
            <a:avLst/>
          </a:prstGeom>
          <a:solidFill>
            <a:srgbClr val="F2F7FB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189280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98781"/>
                </a:solidFill>
                <a:latin typeface="Arial"/>
              </a:rPr>
              <a:t>% HORAS CRITICAS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167128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D03B3B"/>
                </a:solidFill>
                <a:latin typeface="Arial"/>
              </a:rPr>
              <a:t>13,11%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246120"/>
            <a:ext cx="3291840" cy="1234440"/>
          </a:xfrm>
          <a:prstGeom prst="rect">
            <a:avLst/>
          </a:prstGeom>
          <a:solidFill>
            <a:srgbClr val="F2F7FB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35584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98781"/>
                </a:solidFill>
                <a:latin typeface="Arial"/>
              </a:rPr>
              <a:t>CO MEDIO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630168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B1F33"/>
                </a:solidFill>
                <a:latin typeface="Arial"/>
              </a:rPr>
              <a:t>2,15 mg/m3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3246120"/>
            <a:ext cx="3291840" cy="1234440"/>
          </a:xfrm>
          <a:prstGeom prst="rect">
            <a:avLst/>
          </a:prstGeom>
          <a:solidFill>
            <a:srgbClr val="F2F7FB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335584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98781"/>
                </a:solidFill>
                <a:latin typeface="Arial"/>
              </a:rPr>
              <a:t>NO2 MEDIO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630168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B1F33"/>
                </a:solidFill>
                <a:latin typeface="Arial"/>
              </a:rPr>
              <a:t>113,09 ug/m3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3246120"/>
            <a:ext cx="3291840" cy="1234440"/>
          </a:xfrm>
          <a:prstGeom prst="rect">
            <a:avLst/>
          </a:prstGeom>
          <a:solidFill>
            <a:srgbClr val="F2F7FB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335584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98781"/>
                </a:solidFill>
                <a:latin typeface="Arial"/>
              </a:rPr>
              <a:t>DIAS CONSOLIDADOS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3630168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B1F33"/>
                </a:solidFill>
                <a:latin typeface="Arial"/>
              </a:rPr>
              <a:t>363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70916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6364A"/>
                </a:solidFill>
                <a:latin typeface="Arial"/>
              </a:rPr>
              <a:t>A soma de leituras validas e rejeitadas confere com o total de linhas de dados apos a remocao das 114 linhas vazias do export. O ranking dos piores dias mostra media de NO2 e percentual de horas criticas elevados nas mesmas datas de maior media de CO.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98781"/>
                </a:solidFill>
                <a:latin typeface="Arial"/>
              </a:rPr>
              <a:t>AeroTrack | Modulo 6 | Apache Hop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98781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AF7A"/>
                </a:solidFill>
                <a:latin typeface="Arial"/>
              </a:rPr>
              <a:t>FECHAMENTO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B1F33"/>
                </a:solidFill>
                <a:latin typeface="Arial"/>
              </a:rPr>
              <a:t>Conclusao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188720" cy="381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erotrack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92608"/>
            <a:ext cx="502920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17373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800">
                <a:solidFill>
                  <a:srgbClr val="26364A"/>
                </a:solidFill>
                <a:latin typeface="Arial"/>
              </a:rPr>
              <a:t>•  O AeroTrack cobre o ciclo completo do trabalho final: ingestao, tratamento real dentro do Apache Hop, persistencia reexecutavel, orquestracao por workflow e indicadores em dashboard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800">
                <a:solidFill>
                  <a:srgbClr val="26364A"/>
                </a:solidFill>
                <a:latin typeface="Arial"/>
              </a:rPr>
              <a:t>•  A classificacao de CO e NO2 foi calibrada pelos percentis reais do dataset, tornando o indicador de horas criticas informativo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800">
                <a:solidFill>
                  <a:srgbClr val="26364A"/>
                </a:solidFill>
                <a:latin typeface="Arial"/>
              </a:rPr>
              <a:t>•  A etapa mais trabalhosa foi garantir que cada transformacao gravasse exatamente os campos esperados, validado executando a pipeline real contra o banco de dados a cada ajuste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98781"/>
                </a:solidFill>
                <a:latin typeface="Arial"/>
              </a:rPr>
              <a:t>AeroTrack | Modulo 6 | Apache 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98781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1440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rial"/>
              </a:rPr>
              <a:t>Equipe AeroTrack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0" y="1600200"/>
            <a:ext cx="1216152" cy="381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194560"/>
            <a:ext cx="121916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Arial"/>
              </a:rPr>
              <a:t>Juliana Ballin Lima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578608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BAF7A"/>
                </a:solidFill>
                <a:latin typeface="Arial"/>
              </a:rPr>
              <a:t>@JulianaBallin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108960"/>
            <a:ext cx="121916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Arial"/>
              </a:rPr>
              <a:t>Allef Oliveira Ramos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493008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BAF7A"/>
                </a:solidFill>
                <a:latin typeface="Arial"/>
              </a:rPr>
              <a:t>@allef-oliveira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023360"/>
            <a:ext cx="121916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Arial"/>
              </a:rPr>
              <a:t>Fernanda de Oliveira da Costa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407408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BAF7A"/>
                </a:solidFill>
                <a:latin typeface="Arial"/>
              </a:rPr>
              <a:t>@nanda-costa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937760"/>
            <a:ext cx="121916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Arial"/>
              </a:rPr>
              <a:t>Pedro Henrique Oliveira Dias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321808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BAF7A"/>
                </a:solidFill>
                <a:latin typeface="Arial"/>
              </a:rPr>
              <a:t>@pedroddias-oss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309360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898781"/>
                </a:solidFill>
                <a:latin typeface="Arial"/>
              </a:rPr>
              <a:t>Obrigado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