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828800" y="-182880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01200" y="41148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89320"/>
            <a:ext cx="12191695" cy="54864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erotrack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965960"/>
            <a:ext cx="3685286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324612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CFE3F7"/>
                </a:solidFill>
                <a:latin typeface="Arial"/>
              </a:rPr>
              <a:t>Air Quality Monitoring with Apache 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9476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BAF7A"/>
                </a:solidFill>
                <a:latin typeface="Arial"/>
              </a:rPr>
              <a:t>Module 6 Final Project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709160"/>
            <a:ext cx="121916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  <a:latin typeface="Arial"/>
              </a:rPr>
              <a:t>Allef Oliveira Ramos   ·   Fernanda de Oliveira da Costa   ·   Juliana Ballin Lima   ·   Pedro Henrique Oliveira Dias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17220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98781"/>
                </a:solidFill>
                <a:latin typeface="Arial"/>
              </a:rPr>
              <a:t>AI and Digital Transformation Program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_lu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144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68880" y="914400"/>
            <a:ext cx="90525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You cannot see the air</a:t>
            </a:r>
          </a:p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you breathe.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2514600"/>
            <a:ext cx="8869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CFE3F7"/>
                </a:solidFill>
                <a:latin typeface="Arial"/>
              </a:rPr>
              <a:t>Air pollution is one of the world's largest environmental health risks.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CFE3F7"/>
                </a:solidFill>
                <a:latin typeface="Arial"/>
              </a:rPr>
              <a:t>CO and NO2 levels can spike for hours without anyone noticing,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CFE3F7"/>
                </a:solidFill>
                <a:latin typeface="Arial"/>
              </a:rPr>
              <a:t>until the exposure has already happened.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663440"/>
            <a:ext cx="10515600" cy="1463040"/>
          </a:xfrm>
          <a:prstGeom prst="roundRect">
            <a:avLst>
              <a:gd name="adj" fmla="val 12000"/>
            </a:avLst>
          </a:prstGeom>
          <a:solidFill>
            <a:srgbClr val="162E4A"/>
          </a:soli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892040"/>
            <a:ext cx="9875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1">
                <a:solidFill>
                  <a:srgbClr val="E8A300"/>
                </a:solidFill>
                <a:latin typeface="Arial"/>
              </a:rPr>
              <a:t>The real question is not “is the air polluted”. It is: exactly WHEN was it</a:t>
            </a:r>
          </a:p>
          <a:p>
            <a:pPr algn="l">
              <a:lnSpc>
                <a:spcPct val="130000"/>
              </a:lnSpc>
            </a:pPr>
            <a:r>
              <a:rPr sz="1700" b="0" i="1">
                <a:solidFill>
                  <a:srgbClr val="E8A300"/>
                </a:solidFill>
                <a:latin typeface="Arial"/>
              </a:rPr>
              <a:t>worst, and what conditions made it worse?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Without treated data, that question has no answer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234440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3383280" cy="329184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162E4A"/>
              </a:gs>
              <a:gs pos="100000">
                <a:srgbClr val="1C3252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_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084832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30632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Raw sensor noise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520440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Missing readings, a -200 sentinel value and empty export rows hide the real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828800"/>
            <a:ext cx="3383280" cy="329184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162E4A"/>
              </a:gs>
              <a:gs pos="100000">
                <a:srgbClr val="1C3252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ques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2084832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0" y="30632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No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520440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Nothing tells you which hours, days or months were actually critical.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828800"/>
            <a:ext cx="3383280" cy="329184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162E4A"/>
              </a:gs>
              <a:gs pos="100000">
                <a:srgbClr val="1C3252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_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2084832"/>
            <a:ext cx="822960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83880" y="30632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No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520440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Without a database, every analysis starts from zero, every single time.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321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1">
                <a:solidFill>
                  <a:srgbClr val="28C48C"/>
                </a:solidFill>
                <a:latin typeface="Arial"/>
              </a:rPr>
              <a:t>AeroTrack was built to close exactly this gap.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828800" y="-182880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01200" y="41148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erotrack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286000"/>
            <a:ext cx="335026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35204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CFE3F7"/>
                </a:solidFill>
                <a:latin typeface="Arial"/>
              </a:rPr>
              <a:t>From raw sensor data to a clear, trustworthy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062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8A300"/>
                </a:solidFill>
                <a:latin typeface="Arial"/>
              </a:rPr>
              <a:t>Built end to end with Apache 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Dataset and problem statement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9164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Dataset: Air Quality, UCI Machine Learning Repository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Source: a monitoring station in an Italian city (De Vito et al.)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Period: March 2004 to February 2005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Volume: 9357 hourly readings, 15 variables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737360"/>
            <a:ext cx="3520440" cy="329184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2A78D6"/>
              </a:gs>
              <a:gs pos="100000">
                <a:srgbClr val="1BAF7A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06324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FFFFF"/>
                </a:solidFill>
                <a:latin typeface="Arial"/>
              </a:rPr>
              <a:t>In which periods were the worst air quality conditions recorded, and which environmental variables were associated with them?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End-to-end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aerotrack-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03120"/>
            <a:ext cx="11247120" cy="196824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8463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26364A"/>
                </a:solidFill>
                <a:latin typeface="Arial"/>
              </a:rPr>
              <a:t>Two Apache Hop pipelines, orchestrated by a workflow: pl_01_ingestion_treatment and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26364A"/>
                </a:solidFill>
                <a:latin typeface="Arial"/>
              </a:rPr>
              <a:t>pl_02_indicator_consolidation, feeding a PostgreSQL database and a live dashboard.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APACHE 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Ingestion and treatment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CSV Input reads the raw dataset (semicolon separator, comma decimal)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Filter Rows removes the empty rows left by the dataset export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Formula builds a single date-time text; Null If handles the -200 missing-value sentinel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Select Values renames fields and converts text into a proper Date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Calculator, Value Mapper and Number Range derive year, month, time of day and CO/NO2 level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Janino flags whether a reading is valid; Filter Rows splits valid from rejected readings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Insert/Update loads PostgreSQL keyed on data_hora, safe to rerun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APACHE 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Consolidation pipeline and orchestration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916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AF7A"/>
                </a:solidFill>
                <a:latin typeface="Arial"/>
              </a:rPr>
              <a:t>pl_02_indicator_consolidation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Table Input aggregates treated readings by day and by month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Insert/Update writes resumo_diario_qualidade_ar and resumo_mensal_qualidade_ar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AF7A"/>
                </a:solidFill>
                <a:latin typeface="Arial"/>
              </a:rPr>
              <a:t>wf_air_quality_orchestration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160520"/>
            <a:ext cx="10424160" cy="9144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B1F33"/>
              </a:gs>
              <a:gs pos="100000">
                <a:srgbClr val="162E4A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onsolas"/>
              </a:rPr>
              <a:t>START  →  Ingestion and treatment  →  Indicator consolidation  →  Process completed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4924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26364A"/>
                </a:solidFill>
                <a:latin typeface="Arial"/>
              </a:rPr>
              <a:t>The second hop only runs if ingestion succeeds, preventing indicators from ever being built on an incomplete load.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DATA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Treatments applied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-200 sentinel: converted to null before any calculation (Null If)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114 empty export rows: dropped during ingestion (Filter Rows)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Readings with no reference pollutant (CO, NOx and NO2): separated into leituras_rejeitadas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CO and NO2 analytical classification (GOOD, MODERATE, CRITICAL): calibrated from the dataset's own percentiles, with no external regulatory reference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Time-of-day boundary fix: the NOITE (evening) range excluded hour 23 until it was widened to include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PERSISTENCE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Database and rerun safety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leituras_qualidade_ar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73736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Treated, detailed data, one row per valid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leituras_rejeitadas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28600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Readings with no reference pollutant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resumo_diario_qualidade_ar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83464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Indicators aggregated by 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resumo_mensal_qualidade_ar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38328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Indicators aggregated by month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297680"/>
            <a:ext cx="10424160" cy="164592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0B1F33"/>
              </a:gs>
              <a:gs pos="100000">
                <a:srgbClr val="162E4A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/>
            <a:r>
              <a:rPr sz="1500" b="1">
                <a:solidFill>
                  <a:srgbClr val="E8A300"/>
                </a:solidFill>
                <a:latin typeface="Arial"/>
              </a:rPr>
              <a:t>Rerun without duplicates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Arial"/>
              </a:rPr>
              <a:t>UNIQUE key on data_hora plus Insert/Update: rerunning the process updates existing records instead of duplicating. Validated by running the workflow twice in a row (8131 rows both times).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Indicators calculated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Total treated and rejected readings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Percentage of hours in critical condition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Average and maximum CO and NO2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Monthly trend of CO and NO2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Distribution of readings by level (good, moderate, critical)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Readings by time of day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Ranking of the ten worst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AeroTrack dashboard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E01-dashboard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600200"/>
            <a:ext cx="9692640" cy="1135856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ANSWERING 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Ranking of the ten worst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E02-dashboard-ra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737360"/>
            <a:ext cx="8686800" cy="30539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Validation of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73736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6537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TREATED READINGS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15798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8,131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186537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REJECTED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15798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1,226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73736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2" y="186537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% CRITICAL HOURS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2" y="215798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D03B3B"/>
                </a:solidFill>
                <a:latin typeface="Arial"/>
              </a:rPr>
              <a:t>13.11%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20040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2841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AVG. 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62102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2.15 mg/m3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20040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7992" y="332841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AVG. NO2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362102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113.09 ug/m3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320040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28432" y="332841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DAYS CONSOLIDATED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2" y="362102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363</a:t>
            </a:r>
          </a:p>
        </p:txBody>
      </p:sp>
      <p:pic>
        <p:nvPicPr>
          <p:cNvPr id="25" name="Picture 24" descr="icon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709160"/>
            <a:ext cx="50292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40" y="4709160"/>
            <a:ext cx="9784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6364A"/>
                </a:solidFill>
                <a:latin typeface="Arial"/>
              </a:rPr>
              <a:t>Valid plus rejected readings match the dataset total after removing the 114 empty export rows. The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6364A"/>
                </a:solidFill>
                <a:latin typeface="Arial"/>
              </a:rPr>
              <a:t>worst-day ranking shows high NO2 and a high critical-hour share on the same dates as the highest CO,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6364A"/>
                </a:solidFill>
                <a:latin typeface="Arial"/>
              </a:rPr>
              <a:t>consistent with real pollutant behavior.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Every critical hour now has a record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417320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AeroTrack turns raw, noisy sensor exports into a database that can answer, with evidence, when air quality was worst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The CO/NO2 classification was calibrated on the dataset's real distribution, not arbitrary thresholds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Every table is safe to reload: Insert/Update guarantees no duplicate history, run after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828800" y="-182880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01200" y="41148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9144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AeroTrack Team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0" y="1600200"/>
            <a:ext cx="1216152" cy="50800"/>
          </a:xfrm>
          <a:prstGeom prst="roundRect">
            <a:avLst>
              <a:gd name="adj" fmla="val 50000"/>
            </a:avLst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1945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Juliana Ballin Lima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5786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@JulianaBallin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1089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Allef Oliveira Ramos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34930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@allef-oliveira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0233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Fernanda de Oliveira da Costa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4074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@nanda-costa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49377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Pedro Henrique Oliveira Dias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53218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@pedroddias-oss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630936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898781"/>
                </a:solidFill>
                <a:latin typeface="Arial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